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Alice Bold" charset="1" panose="00000500000000000000"/>
      <p:regular r:id="rId13"/>
    </p:embeddedFont>
    <p:embeddedFont>
      <p:font typeface="Gagalin" charset="1" panose="00000500000000000000"/>
      <p:regular r:id="rId14"/>
    </p:embeddedFont>
    <p:embeddedFont>
      <p:font typeface="Alice" charset="1" panose="00000500000000000000"/>
      <p:regular r:id="rId18"/>
    </p:embeddedFont>
    <p:embeddedFont>
      <p:font typeface="Lora" charset="1" panose="00000500000000000000"/>
      <p:regular r:id="rId19"/>
    </p:embeddedFont>
    <p:embeddedFont>
      <p:font typeface="Fredoka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2501" y="1497186"/>
            <a:ext cx="7102999" cy="2249283"/>
          </a:xfrm>
          <a:custGeom>
            <a:avLst/>
            <a:gdLst/>
            <a:ahLst/>
            <a:cxnLst/>
            <a:rect r="r" b="b" t="t" l="l"/>
            <a:pathLst>
              <a:path h="2249283" w="7102999">
                <a:moveTo>
                  <a:pt x="0" y="0"/>
                </a:moveTo>
                <a:lnTo>
                  <a:pt x="7102998" y="0"/>
                </a:lnTo>
                <a:lnTo>
                  <a:pt x="7102998" y="2249283"/>
                </a:lnTo>
                <a:lnTo>
                  <a:pt x="0" y="2249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3841" y="4942681"/>
            <a:ext cx="6360319" cy="5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sz="343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Toll Collection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04374" y="5641590"/>
            <a:ext cx="339626" cy="38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sz="2437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78191" y="6186103"/>
            <a:ext cx="4131618" cy="44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837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Subrata Bhaktipad Panda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938910"/>
            <a:ext cx="9190658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</a:t>
            </a: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Toll Collection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192934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Manual toll collection creates bottlenecks at highways and bridges, forcing vehicles to stop, pay cash, and wait. The result: increased travel time, frustrated drivers, and reduced throughput at collection points.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872753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An automated system must seamlessly identify vehicles, calculate appropriate toll charges based on vehicle classification, and maintain comprehensive transaction records for billing and auditing purposes.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0079" y="1228277"/>
            <a:ext cx="7914980" cy="80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Toll Collection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0079" y="2403129"/>
            <a:ext cx="16567842" cy="42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Built with C++ to demonstrate real-world application of object-oriented programming and file handling for automated toll management.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0079" y="3066755"/>
            <a:ext cx="8177365" cy="2686945"/>
            <a:chOff x="0" y="0"/>
            <a:chExt cx="10903153" cy="3582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3204" cy="3582543"/>
            </a:xfrm>
            <a:custGeom>
              <a:avLst/>
              <a:gdLst/>
              <a:ahLst/>
              <a:cxnLst/>
              <a:rect r="r" b="b" t="t" l="l"/>
              <a:pathLst>
                <a:path h="3582543" w="10903204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055" y="0"/>
                  </a:lnTo>
                  <a:cubicBezTo>
                    <a:pt x="10881233" y="0"/>
                    <a:pt x="10903204" y="21971"/>
                    <a:pt x="10903204" y="49149"/>
                  </a:cubicBezTo>
                  <a:lnTo>
                    <a:pt x="10903204" y="3533394"/>
                  </a:lnTo>
                  <a:cubicBezTo>
                    <a:pt x="10903204" y="3560572"/>
                    <a:pt x="10881233" y="3582543"/>
                    <a:pt x="10854055" y="3582543"/>
                  </a:cubicBezTo>
                  <a:lnTo>
                    <a:pt x="49149" y="3582543"/>
                  </a:lnTo>
                  <a:cubicBezTo>
                    <a:pt x="21971" y="3582543"/>
                    <a:pt x="0" y="3560572"/>
                    <a:pt x="0" y="3533394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5795" y="3312471"/>
            <a:ext cx="737149" cy="737149"/>
            <a:chOff x="0" y="0"/>
            <a:chExt cx="982866" cy="982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08497" y="3515020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56" t="0" r="-285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5795" y="4234015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Vehicle Registration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5795" y="4717104"/>
            <a:ext cx="7685932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Comprehensive vehicle database with owner information and vehicle classification stored in persistent data structures.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0413" y="3066755"/>
            <a:ext cx="8177508" cy="2686945"/>
            <a:chOff x="0" y="0"/>
            <a:chExt cx="10903344" cy="35825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03331" cy="3582543"/>
            </a:xfrm>
            <a:custGeom>
              <a:avLst/>
              <a:gdLst/>
              <a:ahLst/>
              <a:cxnLst/>
              <a:rect r="r" b="b" t="t" l="l"/>
              <a:pathLst>
                <a:path h="3582543" w="1090333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182" y="0"/>
                  </a:lnTo>
                  <a:cubicBezTo>
                    <a:pt x="10881360" y="0"/>
                    <a:pt x="10903331" y="21971"/>
                    <a:pt x="10903331" y="49149"/>
                  </a:cubicBezTo>
                  <a:lnTo>
                    <a:pt x="10903331" y="3533394"/>
                  </a:lnTo>
                  <a:cubicBezTo>
                    <a:pt x="10903331" y="3560572"/>
                    <a:pt x="10881360" y="3582543"/>
                    <a:pt x="10854182" y="3582543"/>
                  </a:cubicBezTo>
                  <a:lnTo>
                    <a:pt x="49149" y="3582543"/>
                  </a:lnTo>
                  <a:cubicBezTo>
                    <a:pt x="21971" y="3582543"/>
                    <a:pt x="0" y="3560572"/>
                    <a:pt x="0" y="3533394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6130" y="3312471"/>
            <a:ext cx="737149" cy="737149"/>
            <a:chOff x="0" y="0"/>
            <a:chExt cx="982866" cy="9828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98831" y="3515020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570" r="0" b="-857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96130" y="4234015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Automatic Calculation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6130" y="4717104"/>
            <a:ext cx="7686084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Toll charges computed dynamically based on vehicle type, distance traveled, and applicable rates stored in system configuration.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60079" y="5966670"/>
            <a:ext cx="8177365" cy="3053801"/>
            <a:chOff x="0" y="0"/>
            <a:chExt cx="10903153" cy="4071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03204" cy="4071747"/>
            </a:xfrm>
            <a:custGeom>
              <a:avLst/>
              <a:gdLst/>
              <a:ahLst/>
              <a:cxnLst/>
              <a:rect r="r" b="b" t="t" l="l"/>
              <a:pathLst>
                <a:path h="4071747" w="10903204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055" y="0"/>
                  </a:lnTo>
                  <a:cubicBezTo>
                    <a:pt x="10881233" y="0"/>
                    <a:pt x="10903204" y="21971"/>
                    <a:pt x="10903204" y="49149"/>
                  </a:cubicBezTo>
                  <a:lnTo>
                    <a:pt x="10903204" y="4022598"/>
                  </a:lnTo>
                  <a:cubicBezTo>
                    <a:pt x="10903204" y="4049776"/>
                    <a:pt x="10881233" y="4071747"/>
                    <a:pt x="10854055" y="4071747"/>
                  </a:cubicBezTo>
                  <a:lnTo>
                    <a:pt x="49149" y="4071747"/>
                  </a:lnTo>
                  <a:cubicBezTo>
                    <a:pt x="21971" y="4071747"/>
                    <a:pt x="0" y="4049776"/>
                    <a:pt x="0" y="4022598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05795" y="6212386"/>
            <a:ext cx="737149" cy="737149"/>
            <a:chOff x="0" y="0"/>
            <a:chExt cx="982866" cy="9828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308497" y="6414935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05795" y="7133930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FASTag Support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5795" y="7617028"/>
            <a:ext cx="7685932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Integrated discount mechanism for FASTag-enabled vehicles, applying predefined percentage reductions to eligible transactions.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0413" y="5966670"/>
            <a:ext cx="8177508" cy="3053801"/>
            <a:chOff x="0" y="0"/>
            <a:chExt cx="10903344" cy="40717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03331" cy="4071747"/>
            </a:xfrm>
            <a:custGeom>
              <a:avLst/>
              <a:gdLst/>
              <a:ahLst/>
              <a:cxnLst/>
              <a:rect r="r" b="b" t="t" l="l"/>
              <a:pathLst>
                <a:path h="4071747" w="1090333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182" y="0"/>
                  </a:lnTo>
                  <a:cubicBezTo>
                    <a:pt x="10881360" y="0"/>
                    <a:pt x="10903331" y="21971"/>
                    <a:pt x="10903331" y="49149"/>
                  </a:cubicBezTo>
                  <a:lnTo>
                    <a:pt x="10903331" y="4022598"/>
                  </a:lnTo>
                  <a:cubicBezTo>
                    <a:pt x="10903331" y="4049776"/>
                    <a:pt x="10881360" y="4071747"/>
                    <a:pt x="10854182" y="4071747"/>
                  </a:cubicBezTo>
                  <a:lnTo>
                    <a:pt x="49149" y="4071747"/>
                  </a:lnTo>
                  <a:cubicBezTo>
                    <a:pt x="21971" y="4071747"/>
                    <a:pt x="0" y="4049776"/>
                    <a:pt x="0" y="4022598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96130" y="6212386"/>
            <a:ext cx="737149" cy="737149"/>
            <a:chOff x="0" y="0"/>
            <a:chExt cx="982866" cy="9828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98831" y="6414935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000" r="0" b="-1000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96130" y="7133930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Transaction Logging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6130" y="7617028"/>
            <a:ext cx="7686084" cy="11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Complete audit trail maintained through file handling, with receipts generated for each transaction and historical data preserved.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6416" y="684162"/>
            <a:ext cx="6332039" cy="82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System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6416" y="1966170"/>
            <a:ext cx="1266377" cy="1519685"/>
            <a:chOff x="0" y="0"/>
            <a:chExt cx="1688503" cy="20262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" r="-2" b="-12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9021" y="2200275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Register Vehicle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021" y="2683964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Vehicle details and owner information stored in system database with unique identification.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416" y="3485855"/>
            <a:ext cx="1266377" cy="1519685"/>
            <a:chOff x="0" y="0"/>
            <a:chExt cx="1688503" cy="202624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4" r="-2" b="-12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9021" y="3719960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Identify Vehicle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9021" y="4203649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Automatic recognition using registration number or RFID technology at toll point.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6416" y="5005540"/>
            <a:ext cx="1266377" cy="1519685"/>
            <a:chOff x="0" y="0"/>
            <a:chExt cx="1688503" cy="202624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4" r="-2" b="-12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79021" y="5239645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Calculate Toll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9021" y="5723334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Charge computed based on vehicle classification and distance traveled.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6416" y="6525216"/>
            <a:ext cx="1266377" cy="1519685"/>
            <a:chOff x="0" y="0"/>
            <a:chExt cx="1688503" cy="202624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4" r="-2" b="-12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79021" y="6759331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Apply Discount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79021" y="7243020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FASTag discount applied automatically if vehicle is registered with electronic payment.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6416" y="8044901"/>
            <a:ext cx="1266377" cy="1519685"/>
            <a:chOff x="0" y="0"/>
            <a:chExt cx="1688503" cy="202624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4" r="-2" b="-12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79021" y="8279016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Log &amp; Receipt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79021" y="8762705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Transaction stored permanently with receipt generated for customer.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8326" y="1231106"/>
            <a:ext cx="7816301" cy="86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Technical 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8326" y="2406853"/>
            <a:ext cx="9569348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Smart Toll Collection System demonstrates practical application of C++ programming concepts to solve real-world transportation challenges.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74038" y="3563388"/>
            <a:ext cx="4688681" cy="3241919"/>
            <a:chOff x="0" y="0"/>
            <a:chExt cx="6251575" cy="4322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6213475" cy="4284472"/>
            </a:xfrm>
            <a:custGeom>
              <a:avLst/>
              <a:gdLst/>
              <a:ahLst/>
              <a:cxnLst/>
              <a:rect r="r" b="b" t="t" l="l"/>
              <a:pathLst>
                <a:path h="4284472" w="6213475">
                  <a:moveTo>
                    <a:pt x="0" y="53213"/>
                  </a:moveTo>
                  <a:cubicBezTo>
                    <a:pt x="0" y="23749"/>
                    <a:pt x="23876" y="0"/>
                    <a:pt x="53340" y="0"/>
                  </a:cubicBezTo>
                  <a:lnTo>
                    <a:pt x="6160135" y="0"/>
                  </a:lnTo>
                  <a:cubicBezTo>
                    <a:pt x="6189599" y="0"/>
                    <a:pt x="6213475" y="23749"/>
                    <a:pt x="6213475" y="53213"/>
                  </a:cubicBezTo>
                  <a:lnTo>
                    <a:pt x="6213475" y="4231259"/>
                  </a:lnTo>
                  <a:cubicBezTo>
                    <a:pt x="6213475" y="4260596"/>
                    <a:pt x="6189599" y="4284472"/>
                    <a:pt x="6160135" y="4284472"/>
                  </a:cubicBezTo>
                  <a:lnTo>
                    <a:pt x="53340" y="4284472"/>
                  </a:lnTo>
                  <a:cubicBezTo>
                    <a:pt x="23876" y="4284472"/>
                    <a:pt x="0" y="4260723"/>
                    <a:pt x="0" y="4231259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51575" cy="4322572"/>
            </a:xfrm>
            <a:custGeom>
              <a:avLst/>
              <a:gdLst/>
              <a:ahLst/>
              <a:cxnLst/>
              <a:rect r="r" b="b" t="t" l="l"/>
              <a:pathLst>
                <a:path h="4322572" w="6251575">
                  <a:moveTo>
                    <a:pt x="0" y="72263"/>
                  </a:moveTo>
                  <a:cubicBezTo>
                    <a:pt x="0" y="32258"/>
                    <a:pt x="32512" y="0"/>
                    <a:pt x="72390" y="0"/>
                  </a:cubicBezTo>
                  <a:lnTo>
                    <a:pt x="6179185" y="0"/>
                  </a:lnTo>
                  <a:lnTo>
                    <a:pt x="6179185" y="19050"/>
                  </a:lnTo>
                  <a:lnTo>
                    <a:pt x="6179185" y="0"/>
                  </a:lnTo>
                  <a:cubicBezTo>
                    <a:pt x="6219063" y="0"/>
                    <a:pt x="6251575" y="32258"/>
                    <a:pt x="6251575" y="72263"/>
                  </a:cubicBezTo>
                  <a:lnTo>
                    <a:pt x="6232525" y="72263"/>
                  </a:lnTo>
                  <a:lnTo>
                    <a:pt x="6251575" y="72263"/>
                  </a:lnTo>
                  <a:lnTo>
                    <a:pt x="6251575" y="4250309"/>
                  </a:lnTo>
                  <a:lnTo>
                    <a:pt x="6232525" y="4250309"/>
                  </a:lnTo>
                  <a:lnTo>
                    <a:pt x="6251575" y="4250309"/>
                  </a:lnTo>
                  <a:cubicBezTo>
                    <a:pt x="6251575" y="4290187"/>
                    <a:pt x="6219063" y="4322572"/>
                    <a:pt x="6179185" y="4322572"/>
                  </a:cubicBezTo>
                  <a:lnTo>
                    <a:pt x="6179185" y="4303522"/>
                  </a:lnTo>
                  <a:lnTo>
                    <a:pt x="6179185" y="4322572"/>
                  </a:lnTo>
                  <a:lnTo>
                    <a:pt x="72390" y="4322572"/>
                  </a:lnTo>
                  <a:lnTo>
                    <a:pt x="72390" y="4303522"/>
                  </a:lnTo>
                  <a:lnTo>
                    <a:pt x="72390" y="4322572"/>
                  </a:lnTo>
                  <a:cubicBezTo>
                    <a:pt x="32512" y="4322572"/>
                    <a:pt x="0" y="4290314"/>
                    <a:pt x="0" y="4250309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4250309"/>
                  </a:lnTo>
                  <a:lnTo>
                    <a:pt x="19050" y="4250309"/>
                  </a:lnTo>
                  <a:lnTo>
                    <a:pt x="38100" y="4250309"/>
                  </a:lnTo>
                  <a:cubicBezTo>
                    <a:pt x="38100" y="4269105"/>
                    <a:pt x="53340" y="4284472"/>
                    <a:pt x="72390" y="4284472"/>
                  </a:cubicBezTo>
                  <a:lnTo>
                    <a:pt x="6179185" y="4284472"/>
                  </a:lnTo>
                  <a:cubicBezTo>
                    <a:pt x="6198108" y="4284472"/>
                    <a:pt x="6213475" y="4269105"/>
                    <a:pt x="6213475" y="4250309"/>
                  </a:cubicBezTo>
                  <a:lnTo>
                    <a:pt x="6213475" y="72263"/>
                  </a:lnTo>
                  <a:cubicBezTo>
                    <a:pt x="6213475" y="53467"/>
                    <a:pt x="6198235" y="38100"/>
                    <a:pt x="6179185" y="38100"/>
                  </a:cubicBezTo>
                  <a:lnTo>
                    <a:pt x="72390" y="38100"/>
                  </a:lnTo>
                  <a:lnTo>
                    <a:pt x="72390" y="19050"/>
                  </a:lnTo>
                  <a:lnTo>
                    <a:pt x="72390" y="38100"/>
                  </a:lnTo>
                  <a:cubicBezTo>
                    <a:pt x="53340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82705" y="3843490"/>
            <a:ext cx="3509962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Object-Oriented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2705" y="4370184"/>
            <a:ext cx="4071347" cy="212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Vehicle and transaction classes encapsulate data and behavior, demonstrating inheritance and polymorphism for different vehicle types.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83280" y="3563388"/>
            <a:ext cx="4688681" cy="3241919"/>
            <a:chOff x="0" y="0"/>
            <a:chExt cx="6251575" cy="4322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6213475" cy="4284472"/>
            </a:xfrm>
            <a:custGeom>
              <a:avLst/>
              <a:gdLst/>
              <a:ahLst/>
              <a:cxnLst/>
              <a:rect r="r" b="b" t="t" l="l"/>
              <a:pathLst>
                <a:path h="4284472" w="6213475">
                  <a:moveTo>
                    <a:pt x="0" y="53213"/>
                  </a:moveTo>
                  <a:cubicBezTo>
                    <a:pt x="0" y="23749"/>
                    <a:pt x="23876" y="0"/>
                    <a:pt x="53340" y="0"/>
                  </a:cubicBezTo>
                  <a:lnTo>
                    <a:pt x="6160135" y="0"/>
                  </a:lnTo>
                  <a:cubicBezTo>
                    <a:pt x="6189599" y="0"/>
                    <a:pt x="6213475" y="23749"/>
                    <a:pt x="6213475" y="53213"/>
                  </a:cubicBezTo>
                  <a:lnTo>
                    <a:pt x="6213475" y="4231259"/>
                  </a:lnTo>
                  <a:cubicBezTo>
                    <a:pt x="6213475" y="4260596"/>
                    <a:pt x="6189599" y="4284472"/>
                    <a:pt x="6160135" y="4284472"/>
                  </a:cubicBezTo>
                  <a:lnTo>
                    <a:pt x="53340" y="4284472"/>
                  </a:lnTo>
                  <a:cubicBezTo>
                    <a:pt x="23876" y="4284472"/>
                    <a:pt x="0" y="4260723"/>
                    <a:pt x="0" y="4231259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51575" cy="4322572"/>
            </a:xfrm>
            <a:custGeom>
              <a:avLst/>
              <a:gdLst/>
              <a:ahLst/>
              <a:cxnLst/>
              <a:rect r="r" b="b" t="t" l="l"/>
              <a:pathLst>
                <a:path h="4322572" w="6251575">
                  <a:moveTo>
                    <a:pt x="0" y="72263"/>
                  </a:moveTo>
                  <a:cubicBezTo>
                    <a:pt x="0" y="32258"/>
                    <a:pt x="32512" y="0"/>
                    <a:pt x="72390" y="0"/>
                  </a:cubicBezTo>
                  <a:lnTo>
                    <a:pt x="6179185" y="0"/>
                  </a:lnTo>
                  <a:lnTo>
                    <a:pt x="6179185" y="19050"/>
                  </a:lnTo>
                  <a:lnTo>
                    <a:pt x="6179185" y="0"/>
                  </a:lnTo>
                  <a:cubicBezTo>
                    <a:pt x="6219063" y="0"/>
                    <a:pt x="6251575" y="32258"/>
                    <a:pt x="6251575" y="72263"/>
                  </a:cubicBezTo>
                  <a:lnTo>
                    <a:pt x="6232525" y="72263"/>
                  </a:lnTo>
                  <a:lnTo>
                    <a:pt x="6251575" y="72263"/>
                  </a:lnTo>
                  <a:lnTo>
                    <a:pt x="6251575" y="4250309"/>
                  </a:lnTo>
                  <a:lnTo>
                    <a:pt x="6232525" y="4250309"/>
                  </a:lnTo>
                  <a:lnTo>
                    <a:pt x="6251575" y="4250309"/>
                  </a:lnTo>
                  <a:cubicBezTo>
                    <a:pt x="6251575" y="4290187"/>
                    <a:pt x="6219063" y="4322572"/>
                    <a:pt x="6179185" y="4322572"/>
                  </a:cubicBezTo>
                  <a:lnTo>
                    <a:pt x="6179185" y="4303522"/>
                  </a:lnTo>
                  <a:lnTo>
                    <a:pt x="6179185" y="4322572"/>
                  </a:lnTo>
                  <a:lnTo>
                    <a:pt x="72390" y="4322572"/>
                  </a:lnTo>
                  <a:lnTo>
                    <a:pt x="72390" y="4303522"/>
                  </a:lnTo>
                  <a:lnTo>
                    <a:pt x="72390" y="4322572"/>
                  </a:lnTo>
                  <a:cubicBezTo>
                    <a:pt x="32512" y="4322572"/>
                    <a:pt x="0" y="4290314"/>
                    <a:pt x="0" y="4250309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4250309"/>
                  </a:lnTo>
                  <a:lnTo>
                    <a:pt x="19050" y="4250309"/>
                  </a:lnTo>
                  <a:lnTo>
                    <a:pt x="38100" y="4250309"/>
                  </a:lnTo>
                  <a:cubicBezTo>
                    <a:pt x="38100" y="4269105"/>
                    <a:pt x="53340" y="4284472"/>
                    <a:pt x="72390" y="4284472"/>
                  </a:cubicBezTo>
                  <a:lnTo>
                    <a:pt x="6179185" y="4284472"/>
                  </a:lnTo>
                  <a:cubicBezTo>
                    <a:pt x="6198108" y="4284472"/>
                    <a:pt x="6213475" y="4269105"/>
                    <a:pt x="6213475" y="4250309"/>
                  </a:cubicBezTo>
                  <a:lnTo>
                    <a:pt x="6213475" y="72263"/>
                  </a:lnTo>
                  <a:cubicBezTo>
                    <a:pt x="6213475" y="53467"/>
                    <a:pt x="6198235" y="38100"/>
                    <a:pt x="6179185" y="38100"/>
                  </a:cubicBezTo>
                  <a:lnTo>
                    <a:pt x="72390" y="38100"/>
                  </a:lnTo>
                  <a:lnTo>
                    <a:pt x="72390" y="19050"/>
                  </a:lnTo>
                  <a:lnTo>
                    <a:pt x="72390" y="38100"/>
                  </a:lnTo>
                  <a:cubicBezTo>
                    <a:pt x="53340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91948" y="3843490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File Handling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91948" y="4370184"/>
            <a:ext cx="407134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Persistent storage implemented using C++ file streams, ensuring data integrity and recovery across system restarts.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74038" y="7025878"/>
            <a:ext cx="9597923" cy="2006051"/>
            <a:chOff x="0" y="0"/>
            <a:chExt cx="12797231" cy="26747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12759055" cy="2636647"/>
            </a:xfrm>
            <a:custGeom>
              <a:avLst/>
              <a:gdLst/>
              <a:ahLst/>
              <a:cxnLst/>
              <a:rect r="r" b="b" t="t" l="l"/>
              <a:pathLst>
                <a:path h="2636647" w="12759055">
                  <a:moveTo>
                    <a:pt x="0" y="53213"/>
                  </a:moveTo>
                  <a:cubicBezTo>
                    <a:pt x="0" y="23749"/>
                    <a:pt x="24130" y="0"/>
                    <a:pt x="53721" y="0"/>
                  </a:cubicBezTo>
                  <a:lnTo>
                    <a:pt x="12705334" y="0"/>
                  </a:lnTo>
                  <a:cubicBezTo>
                    <a:pt x="12735052" y="0"/>
                    <a:pt x="12759055" y="23749"/>
                    <a:pt x="12759055" y="53213"/>
                  </a:cubicBezTo>
                  <a:lnTo>
                    <a:pt x="12759055" y="2583434"/>
                  </a:lnTo>
                  <a:cubicBezTo>
                    <a:pt x="12759055" y="2612771"/>
                    <a:pt x="12734925" y="2636647"/>
                    <a:pt x="12705334" y="2636647"/>
                  </a:cubicBezTo>
                  <a:lnTo>
                    <a:pt x="53721" y="2636647"/>
                  </a:lnTo>
                  <a:cubicBezTo>
                    <a:pt x="24003" y="2636647"/>
                    <a:pt x="0" y="2612898"/>
                    <a:pt x="0" y="2583434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97155" cy="2674747"/>
            </a:xfrm>
            <a:custGeom>
              <a:avLst/>
              <a:gdLst/>
              <a:ahLst/>
              <a:cxnLst/>
              <a:rect r="r" b="b" t="t" l="l"/>
              <a:pathLst>
                <a:path h="2674747" w="12797155">
                  <a:moveTo>
                    <a:pt x="0" y="72263"/>
                  </a:moveTo>
                  <a:cubicBezTo>
                    <a:pt x="0" y="32131"/>
                    <a:pt x="32766" y="0"/>
                    <a:pt x="72771" y="0"/>
                  </a:cubicBezTo>
                  <a:lnTo>
                    <a:pt x="12724384" y="0"/>
                  </a:lnTo>
                  <a:lnTo>
                    <a:pt x="12724384" y="19050"/>
                  </a:lnTo>
                  <a:lnTo>
                    <a:pt x="12724384" y="0"/>
                  </a:lnTo>
                  <a:cubicBezTo>
                    <a:pt x="12764389" y="0"/>
                    <a:pt x="12797155" y="32131"/>
                    <a:pt x="12797155" y="72263"/>
                  </a:cubicBezTo>
                  <a:lnTo>
                    <a:pt x="12778105" y="72263"/>
                  </a:lnTo>
                  <a:lnTo>
                    <a:pt x="12797155" y="72263"/>
                  </a:lnTo>
                  <a:lnTo>
                    <a:pt x="12797155" y="2602484"/>
                  </a:lnTo>
                  <a:lnTo>
                    <a:pt x="12778105" y="2602484"/>
                  </a:lnTo>
                  <a:lnTo>
                    <a:pt x="12797155" y="2602484"/>
                  </a:lnTo>
                  <a:cubicBezTo>
                    <a:pt x="12797155" y="2642616"/>
                    <a:pt x="12764389" y="2674747"/>
                    <a:pt x="12724384" y="2674747"/>
                  </a:cubicBezTo>
                  <a:lnTo>
                    <a:pt x="12724384" y="2655697"/>
                  </a:lnTo>
                  <a:lnTo>
                    <a:pt x="12724384" y="2674747"/>
                  </a:lnTo>
                  <a:lnTo>
                    <a:pt x="72771" y="2674747"/>
                  </a:lnTo>
                  <a:lnTo>
                    <a:pt x="72771" y="2655697"/>
                  </a:lnTo>
                  <a:lnTo>
                    <a:pt x="72771" y="2674747"/>
                  </a:lnTo>
                  <a:cubicBezTo>
                    <a:pt x="32766" y="2674747"/>
                    <a:pt x="0" y="2642616"/>
                    <a:pt x="0" y="2602484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2602484"/>
                  </a:lnTo>
                  <a:lnTo>
                    <a:pt x="19050" y="2602484"/>
                  </a:lnTo>
                  <a:lnTo>
                    <a:pt x="38100" y="2602484"/>
                  </a:lnTo>
                  <a:cubicBezTo>
                    <a:pt x="38100" y="2621153"/>
                    <a:pt x="53467" y="2636647"/>
                    <a:pt x="72771" y="2636647"/>
                  </a:cubicBezTo>
                  <a:lnTo>
                    <a:pt x="12724384" y="2636647"/>
                  </a:lnTo>
                  <a:cubicBezTo>
                    <a:pt x="12743815" y="2636647"/>
                    <a:pt x="12759055" y="2621153"/>
                    <a:pt x="12759055" y="2602484"/>
                  </a:cubicBezTo>
                  <a:lnTo>
                    <a:pt x="12759055" y="72263"/>
                  </a:lnTo>
                  <a:cubicBezTo>
                    <a:pt x="12759055" y="53594"/>
                    <a:pt x="12743688" y="38100"/>
                    <a:pt x="12724384" y="38100"/>
                  </a:cubicBezTo>
                  <a:lnTo>
                    <a:pt x="72771" y="38100"/>
                  </a:lnTo>
                  <a:lnTo>
                    <a:pt x="72771" y="19050"/>
                  </a:lnTo>
                  <a:lnTo>
                    <a:pt x="72771" y="38100"/>
                  </a:lnTo>
                  <a:cubicBezTo>
                    <a:pt x="53467" y="38100"/>
                    <a:pt x="38100" y="53594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2705" y="7305970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Efficient Operations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2705" y="7832674"/>
            <a:ext cx="8980589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Fast lookup algorithms and optimized data structures enable quick vehicle identification and toll calculation at high throughput rates.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4305" y="1028700"/>
            <a:ext cx="7936383" cy="2513188"/>
          </a:xfrm>
          <a:custGeom>
            <a:avLst/>
            <a:gdLst/>
            <a:ahLst/>
            <a:cxnLst/>
            <a:rect r="r" b="b" t="t" l="l"/>
            <a:pathLst>
              <a:path h="2513188" w="7936383">
                <a:moveTo>
                  <a:pt x="0" y="0"/>
                </a:moveTo>
                <a:lnTo>
                  <a:pt x="7936382" y="0"/>
                </a:lnTo>
                <a:lnTo>
                  <a:pt x="7936382" y="2513188"/>
                </a:lnTo>
                <a:lnTo>
                  <a:pt x="0" y="25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7213" y="5124450"/>
            <a:ext cx="2873573" cy="69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443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DAHDwH9kn4s</dc:identifier>
  <dcterms:modified xsi:type="dcterms:W3CDTF">2011-08-01T06:04:30Z</dcterms:modified>
  <cp:revision>1</cp:revision>
  <dc:title>Smart-Toll-Collection.pptx</dc:title>
</cp:coreProperties>
</file>